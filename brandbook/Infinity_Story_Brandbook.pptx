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слайд. Логотип, название, для кого документ.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своё производство и капсульность. Это то, чем отличаемся от перекупов на маркетплейсах.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Цифра 150 тыс. единиц взята из презентации бренда (там опечатка «150 ед.»). Уточнить у Алёны перед печатью.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Личный блог Алёны (Alenka_Rafaelka) ведётся отдельно: там про то, как строится дело. В аккаунте бренда говорим только о вещах и образах.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Демография из статистики WB (презентация бренда, слайд с ЦА). Портрет по стилю и мотивам собран из отзывов и брифа бренда.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Отзывы и рейтинг: скриншоты из кабинета Wildberries из презентации бренда. В отзывах повторяются слова «качество», «хорошо сидит», «удобно носить», «приятно на ощупь».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 обращения «вы» принята как рабочая гипотеза, уточнить у Алёны. Всё остальное из брифа бренда.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 в этот слайд кладутся в build/photos под именами cardigan_navy_close, cardigan_navy_full, cardigan_green_field, cardigan_green_cafe.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Lamoda добавлена как развиваемый канал по запросу Алёны, описание роли канала уточнить. Цифры из презентации бренда.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image" Target="../media/image-25-3.jpg"/><Relationship Id="rId4" Type="http://schemas.openxmlformats.org/officeDocument/2006/relationships/image" Target="../media/image-25-4.jpg"/><Relationship Id="rId5" Type="http://schemas.openxmlformats.org/officeDocument/2006/relationships/image" Target="../media/image-25-5.jpg"/><Relationship Id="rId6" Type="http://schemas.openxmlformats.org/officeDocument/2006/relationships/image" Target="../media/image-2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c1066a3c-3260-5be9-85ba-908a38047f6f/scratchpad/build/assets/look_argyle_ve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0"/>
            <a:ext cx="5425135" cy="6858000"/>
          </a:xfrm>
          <a:prstGeom prst="rect">
            <a:avLst/>
          </a:prstGeom>
        </p:spPr>
      </p:pic>
      <p:pic>
        <p:nvPicPr>
          <p:cNvPr id="3" name="Image 1" descr="/tmp/claude-0/-home-user--/c1066a3c-3260-5be9-85ba-908a38047f6f/scratchpad/build/assets/log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" y="822960"/>
            <a:ext cx="1463040" cy="142646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26517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54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Бренд-бук</a:t>
            </a:r>
            <a:endParaRPr lang="en-US" sz="54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6118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0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457200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4A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мы, для кого шьём, как говорим и что продаём.</a:t>
            </a:r>
            <a:endParaRPr lang="en-US" sz="1400" dirty="0"/>
          </a:p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4A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для новых сотрудников команды: SMM, менеджеров маркетплейсов, продакта, склада.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8A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1.0 · сентябрь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ПОЛЬЗОВАТЬСЯ ДОКУМЕНТОМ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кого этот бренд-бук и что внутри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Этот документ читают в первый рабочий день. После него новый сотрудник должен уметь ответить на четыре вопроса: про что бренд, кто наша покупательница, как мы с ней говорим и что у нас продаётся лучше всего.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788920" cy="265176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99008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SMM-менеджеру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21608"/>
            <a:ext cx="2331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2, 3, 4 обязательны. Здесь голос бренда, портрет героини и хиты, которые снимаем чаще всего.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788920"/>
            <a:ext cx="2880360" cy="265176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299008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Менеджеру маркетплейса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721608"/>
            <a:ext cx="24231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Lamoda, WB, Ozon. Разделы 3, 4, 5. Позиционирование для описаний карточек, ассортимент, размерная сетка, ткани и логика каналов.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1371600"/>
            <a:ext cx="4754880" cy="4069080"/>
          </a:xfrm>
          <a:prstGeom prst="rect">
            <a:avLst/>
          </a:prstGeom>
          <a:solidFill>
            <a:srgbClr val="24211F"/>
          </a:solidFill>
          <a:ln w="12700">
            <a:solidFill>
              <a:srgbClr val="2421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1600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FB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Содержание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B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Бренд: история, миссия, ценности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0" y="2148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B8A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6791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B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2679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26791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B8A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32095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B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2095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of Voice и визуал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0" y="32095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B8A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7398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B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37398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Ассортимент и хиты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0" y="37398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B8A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17–23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4270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B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270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всё устроено: производство, каналы, продвижение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0" y="4270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B8A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24–27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4800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B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и первые шаги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789920" y="4800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B8A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28–30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c1066a3c-3260-5be9-85ba-908a38047f6f/scratchpad/build/assets/look_quilt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01 · БРЕНД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0" y="457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 одним взглядом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169164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бренд женской одежды со своим производством в Подмосковье. Делаем вещи для реальной жизни: понятные, удобные, с хорошей посадкой и по честной цене. Тренд у нас всегда стоит на базе, а верх и низ собираются в капсулу внутри одного бренда.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3429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4251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основания, старт с ателье 16 м²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29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42–56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4251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размерная сетка, XS – 4XL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4800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5623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цвето-артикулов в матрице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4800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4,72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5623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товаров на Wildberries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59893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«Комфортно и стильно не значит дорого»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01 · БРЕНД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История: от ателье 16 м² до маркетплейсов</a:t>
            </a:r>
            <a:endParaRPr lang="en-US" sz="2800" dirty="0"/>
          </a:p>
        </p:txBody>
      </p:sp>
      <p:pic>
        <p:nvPicPr>
          <p:cNvPr id="4" name="Image 0" descr="/tmp/claude-0/-home-user--/c1066a3c-3260-5be9-85ba-908a38047f6f/scratchpad/build/assets/atelier_mirro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2103120" cy="2743200"/>
          </a:xfrm>
          <a:prstGeom prst="rect">
            <a:avLst/>
          </a:prstGeom>
        </p:spPr>
      </p:pic>
      <p:pic>
        <p:nvPicPr>
          <p:cNvPr id="5" name="Image 1" descr="/tmp/claude-0/-home-user--/c1066a3c-3260-5be9-85ba-908a38047f6f/scratchpad/build/assets/atelier_des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0" y="1417320"/>
            <a:ext cx="3291840" cy="2743200"/>
          </a:xfrm>
          <a:prstGeom prst="rect">
            <a:avLst/>
          </a:prstGeom>
        </p:spPr>
      </p:pic>
      <p:pic>
        <p:nvPicPr>
          <p:cNvPr id="6" name="Image 2" descr="/tmp/claude-0/-home-user--/c1066a3c-3260-5be9-85ba-908a38047f6f/scratchpad/build/assets/old_green_dres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417320"/>
            <a:ext cx="1828800" cy="2743200"/>
          </a:xfrm>
          <a:prstGeom prst="rect">
            <a:avLst/>
          </a:prstGeom>
        </p:spPr>
      </p:pic>
      <p:pic>
        <p:nvPicPr>
          <p:cNvPr id="7" name="Image 3" descr="/tmp/claude-0/-home-user--/c1066a3c-3260-5be9-85ba-908a38047f6f/scratchpad/build/assets/old_beige_vest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46720" y="1417320"/>
            <a:ext cx="1737360" cy="2743200"/>
          </a:xfrm>
          <a:prstGeom prst="rect">
            <a:avLst/>
          </a:prstGeom>
        </p:spPr>
      </p:pic>
      <p:pic>
        <p:nvPicPr>
          <p:cNvPr id="8" name="Image 4" descr="/tmp/claude-0/-home-user--/c1066a3c-3260-5be9-85ba-908a38047f6f/scratchpad/build/assets/old_orange_dress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875520" y="1417320"/>
            <a:ext cx="1737360" cy="274320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Ателье и первая коллекция 2019 года</a:t>
            </a:r>
            <a:endParaRPr lang="en-US" sz="1000" dirty="0"/>
          </a:p>
        </p:txBody>
      </p:sp>
      <p:sp>
        <p:nvSpPr>
          <p:cNvPr id="10" name="Shape 3"/>
          <p:cNvSpPr/>
          <p:nvPr/>
        </p:nvSpPr>
        <p:spPr>
          <a:xfrm>
            <a:off x="548640" y="4617720"/>
            <a:ext cx="2651760" cy="36576"/>
          </a:xfrm>
          <a:prstGeom prst="rect">
            <a:avLst/>
          </a:prstGeom>
          <a:solidFill>
            <a:srgbClr val="FBDCCB"/>
          </a:solidFill>
          <a:ln w="12700">
            <a:solidFill>
              <a:srgbClr val="FBDCCB"/>
            </a:solidFill>
            <a:prstDash val="solid"/>
          </a:ln>
        </p:spPr>
      </p:sp>
      <p:sp>
        <p:nvSpPr>
          <p:cNvPr id="11" name="Text 4"/>
          <p:cNvSpPr txBox="1"/>
          <p:nvPr/>
        </p:nvSpPr>
        <p:spPr>
          <a:xfrm>
            <a:off x="548640" y="4754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000" dirty="0"/>
          </a:p>
        </p:txBody>
      </p:sp>
      <p:sp>
        <p:nvSpPr>
          <p:cNvPr id="12" name="Text 5"/>
          <p:cNvSpPr txBox="1"/>
          <p:nvPr/>
        </p:nvSpPr>
        <p:spPr>
          <a:xfrm>
            <a:off x="548640" y="5166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Алёна шьёт платья на заказ в ателье 16 м². Пошив стоит 6–10 тыс. ₽, и это дорого для большинства. Решение: сделать те же посадку и качество доступными. За 2 месяца готова первая коллекция из 30 артикулов, выходит на Wildberries.</a:t>
            </a:r>
            <a:endParaRPr lang="en-US" sz="1050" dirty="0"/>
          </a:p>
        </p:txBody>
      </p:sp>
      <p:sp>
        <p:nvSpPr>
          <p:cNvPr id="13" name="Shape 6"/>
          <p:cNvSpPr/>
          <p:nvPr/>
        </p:nvSpPr>
        <p:spPr>
          <a:xfrm>
            <a:off x="3364992" y="4617720"/>
            <a:ext cx="2651760" cy="36576"/>
          </a:xfrm>
          <a:prstGeom prst="rect">
            <a:avLst/>
          </a:prstGeom>
          <a:solidFill>
            <a:srgbClr val="FBDCCB"/>
          </a:solidFill>
          <a:ln w="12700">
            <a:solidFill>
              <a:srgbClr val="FBDCCB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3364992" y="4754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2000" dirty="0"/>
          </a:p>
        </p:txBody>
      </p:sp>
      <p:sp>
        <p:nvSpPr>
          <p:cNvPr id="15" name="Text 8"/>
          <p:cNvSpPr txBox="1"/>
          <p:nvPr/>
        </p:nvSpPr>
        <p:spPr>
          <a:xfrm>
            <a:off x="3364992" y="5166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продажи. 80% моделей первой коллекции оказались успешными, одна продаётся до сих пор.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6181344" y="4617720"/>
            <a:ext cx="2651760" cy="36576"/>
          </a:xfrm>
          <a:prstGeom prst="rect">
            <a:avLst/>
          </a:prstGeom>
          <a:solidFill>
            <a:srgbClr val="FBDCCB"/>
          </a:solidFill>
          <a:ln w="12700">
            <a:solidFill>
              <a:srgbClr val="FBDCCB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6181344" y="4754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2000" dirty="0"/>
          </a:p>
        </p:txBody>
      </p:sp>
      <p:sp>
        <p:nvSpPr>
          <p:cNvPr id="18" name="Text 11"/>
          <p:cNvSpPr txBox="1"/>
          <p:nvPr/>
        </p:nvSpPr>
        <p:spPr>
          <a:xfrm>
            <a:off x="6181344" y="5166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15 млн ₽ оборота в месяц на Wildberries. Своё производство в Одинцово, второй канал Ozon.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8997696" y="4617720"/>
            <a:ext cx="2651760" cy="36576"/>
          </a:xfrm>
          <a:prstGeom prst="rect">
            <a:avLst/>
          </a:prstGeom>
          <a:solidFill>
            <a:srgbClr val="FBDCCB"/>
          </a:solidFill>
          <a:ln w="12700">
            <a:solidFill>
              <a:srgbClr val="FBDCCB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8997696" y="4754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8997696" y="5166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10+ человек, более 150 тыс. проданных единиц. Дропы каждый сезон, трикотаж с фабрик Китая, активная работа с блогерами.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c1066a3c-3260-5be9-85ba-908a38047f6f/scratchpad/build/assets/look_r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48640"/>
            <a:ext cx="3840480" cy="5760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3776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01 · МИССИЯ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937760" y="82296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0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создаём одежду, в которой женщина может быть собой: стильной, смелой, вдохновляющей.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30175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4A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коллекции облегчают повседневный выбор, помогают сочетать тренды с классикой и выражать индивидуальность в любой ситуации.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937760" y="4297680"/>
            <a:ext cx="66751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21208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Откуда это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48463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меняются каждый сезон, а база остаётся с нами надолго. Алёна не понимала, почему за базовую вещь нужно платить 7–10 тыс. ₽ за пошив. Так родился принцип бренда: качественно, с хорошей посадкой и по цене, которую не страшно назвать подруге.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01 · ЦЕННОСТИ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ценностей бренда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103120" cy="329184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6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Поддержка женской силы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Одежда помогает женщине сиять, действовать и выбирать себя. Не украшаем, а даём опору.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98064" y="1463040"/>
            <a:ext cx="2103120" cy="329184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6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Красота в простоте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26664" y="288036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Чистые линии, естественная элегантность. Одна яркая деталь вместо пяти.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47488" y="1463040"/>
            <a:ext cx="2103120" cy="329184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76088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6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Функциональность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76088" y="288036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модель создаётся для реальной жизни: продуманная, удобная, универсальная.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463040"/>
            <a:ext cx="2103120" cy="329184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25512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6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Практичность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25512" y="288036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Делаем вещи, которые работают, а не просто выглядят. Карман, посадка, уход.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46336" y="1463040"/>
            <a:ext cx="2103120" cy="329184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74936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6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774936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Постоянное совершенствование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774936" y="288036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Обновляем коллекции каждый сезон и не повторяем прошлые дропы.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применять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спорите, снимать ли кадр, писать ли фразу, брать ли модель в коллекцию, прогоните решение через эти пять пунктов. Вещь, которая красивая, но неудобная, не наша. Текст, который давит на покупательницу, не наш.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c1066a3c-3260-5be9-85ba-908a38047f6f/scratchpad/build/assets/found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48640"/>
            <a:ext cx="3931920" cy="5760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01 · ОСНОВАТЕЛЬ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029200" y="457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Алёна Валуйская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029200" y="13258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Основатель, руководитель и дизайнер моделей. Отвечает за стратегию, ассортимент и внешний вид бренда.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2240280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Начинала с индивидуального пошива и двух швей. Знает продукт от ткани до отгрузки, поэтому в бренде принято говорить о производстве конкретно.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Придумывает модель и технологию сама, дальше подключаются конструктор, технолог и продакт-менеджер.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 утверждает съёмки: моделей, фотографа, локацию, обувь и аксессуары в кадре.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Позиция по контенту: снимаем на телефон при дневном свете, без заставок и приветствий, сразу вещь или движение.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0" y="5120640"/>
            <a:ext cx="6583680" cy="114300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03520" y="5303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4A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«Комфортно и стильно не значит дорого». Эта фраза родилась в ателье и до сих пор остаётся главным фильтром для любой модели и любого текста бренда.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02 · ЦЕЛЕВАЯ АУДИТОРИЯ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Наша героиня: женщина 25–46 из Москвы</a:t>
            </a:r>
            <a:endParaRPr lang="en-US" sz="2800" dirty="0"/>
          </a:p>
        </p:txBody>
      </p:sp>
      <p:pic>
        <p:nvPicPr>
          <p:cNvPr id="4" name="Image 0" descr="/tmp/claude-0/-home-user--/c1066a3c-3260-5be9-85ba-908a38047f6f/scratchpad/build/assets/look_polo_yello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1371600"/>
            <a:ext cx="365760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258568"/>
            <a:ext cx="7040880" cy="18288"/>
          </a:xfrm>
          <a:prstGeom prst="rect">
            <a:avLst/>
          </a:prstGeom>
          <a:solidFill>
            <a:srgbClr val="E9DDD5"/>
          </a:solidFill>
          <a:ln w="12700">
            <a:solidFill>
              <a:srgbClr val="E9DDD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Возраст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468880" y="1417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25–46 лет. Ядро 30–40: работает, решает, у многих семья и дети.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91256"/>
            <a:ext cx="7040880" cy="18288"/>
          </a:xfrm>
          <a:prstGeom prst="rect">
            <a:avLst/>
          </a:prstGeom>
          <a:solidFill>
            <a:srgbClr val="E9DDD5"/>
          </a:solidFill>
          <a:ln w="12700">
            <a:solidFill>
              <a:srgbClr val="E9DDD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5000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География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235000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регион Москва и область, дальше крупные города. Покупает онлайн, в первую очередь на Wildberries.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123944"/>
            <a:ext cx="7040880" cy="18288"/>
          </a:xfrm>
          <a:prstGeom prst="rect">
            <a:avLst/>
          </a:prstGeom>
          <a:solidFill>
            <a:srgbClr val="E9DDD5"/>
          </a:solidFill>
          <a:ln w="12700">
            <a:solidFill>
              <a:srgbClr val="E9DDD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28269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Доход и цена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328269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Средний. Готова платить за посадку и ткань, но не за имя. Ориентир по чеку: доступный сегмент, дороже масс-маркета, дешевле дизайнеров.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5056632"/>
            <a:ext cx="7040880" cy="18288"/>
          </a:xfrm>
          <a:prstGeom prst="rect">
            <a:avLst/>
          </a:prstGeom>
          <a:solidFill>
            <a:srgbClr val="E9DDD5"/>
          </a:solidFill>
          <a:ln w="12700">
            <a:solidFill>
              <a:srgbClr val="E9DDD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21538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Стиль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468880" y="4215384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Хочет выглядеть собранно и женственно без усилий. Любит базу, но с деталью: воротник, кружево, фактура, цвет.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989320"/>
            <a:ext cx="7040880" cy="18288"/>
          </a:xfrm>
          <a:prstGeom prst="rect">
            <a:avLst/>
          </a:prstGeom>
          <a:solidFill>
            <a:srgbClr val="E9DDD5"/>
          </a:solidFill>
          <a:ln w="12700">
            <a:solidFill>
              <a:srgbClr val="E9DDD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14807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выбирает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468880" y="514807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Смотрит отзывы и фото на реальных людях, сверяет параметры с сеткой, думает, с чем будет носить.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02 · ЦЕЛЕВАЯ АУДИТОРИЯ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она спрашивает и как мы отвечаем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покупает не «модное», а то, что решает задачу: на работу, на выход, на каждый день. Три вопроса звучат в каждом втором сообщении в директ и в каждом отзыве.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66160" cy="393192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 чем это носить?»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 аудитории. Показ вещи без ответа на него работает слабо.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отвечаем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вещь показываем в образе и в паре: верх + низ из нашей же матрицы. Одна вещь тремя способами. В карточке пишем, с чем сочетается.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240280"/>
            <a:ext cx="3566160" cy="393192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«А сядет ли на меня?»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08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сомнение. Особенно у размеров 48+.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отвечаем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343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обещаем «идеально сядет». Даём параметры модели, рост, размер на фото и ориентир по сетке 42–56. Спрашиваем параметры и подбираем.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240280"/>
            <a:ext cx="3566160" cy="393192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«Из чего это и как ухаживать?»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Ей важно, переживёт ли вещь сезон и стирку.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отвечаем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343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Называем ткань и переводим её в пользу при носке: не «вискоза», а «дышит и не мнётся к вечеру». Даём правило ухода одной строкой.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02 · ЦЕЛЕВАЯ АУДИТОРИЯ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женщины выбирают Infinity Story</a:t>
            </a:r>
            <a:endParaRPr lang="en-US" sz="2800" dirty="0"/>
          </a:p>
        </p:txBody>
      </p:sp>
      <p:pic>
        <p:nvPicPr>
          <p:cNvPr id="4" name="Image 0" descr="/tmp/claude-0/-home-user--/c1066a3c-3260-5be9-85ba-908a38047f6f/scratchpad/build/assets/review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2743200" cy="2697480"/>
          </a:xfrm>
          <a:prstGeom prst="rect">
            <a:avLst/>
          </a:prstGeom>
        </p:spPr>
      </p:pic>
      <p:pic>
        <p:nvPicPr>
          <p:cNvPr id="5" name="Image 1" descr="/tmp/claude-0/-home-user--/c1066a3c-3260-5be9-85ba-908a38047f6f/scratchpad/build/assets/review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4160520"/>
            <a:ext cx="2743200" cy="2103120"/>
          </a:xfrm>
          <a:prstGeom prst="rect">
            <a:avLst/>
          </a:prstGeom>
        </p:spPr>
      </p:pic>
      <p:pic>
        <p:nvPicPr>
          <p:cNvPr id="6" name="Image 2" descr="/tmp/claude-0/-home-user--/c1066a3c-3260-5be9-85ba-908a38047f6f/scratchpad/build/assets/review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29000" y="1371600"/>
            <a:ext cx="2743200" cy="2697480"/>
          </a:xfrm>
          <a:prstGeom prst="rect">
            <a:avLst/>
          </a:prstGeom>
        </p:spPr>
      </p:pic>
      <p:pic>
        <p:nvPicPr>
          <p:cNvPr id="7" name="Image 3" descr="/tmp/claude-0/-home-user--/c1066a3c-3260-5be9-85ba-908a38047f6f/scratchpad/build/assets/rating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429000" y="4160520"/>
            <a:ext cx="2743200" cy="210312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49224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3"/>
          <p:cNvSpPr txBox="1"/>
          <p:nvPr/>
        </p:nvSpPr>
        <p:spPr>
          <a:xfrm>
            <a:off x="70408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Доверие и качество</a:t>
            </a:r>
            <a:endParaRPr lang="en-US" sz="1600" dirty="0"/>
          </a:p>
        </p:txBody>
      </p:sp>
      <p:sp>
        <p:nvSpPr>
          <p:cNvPr id="10" name="Text 4"/>
          <p:cNvSpPr txBox="1"/>
          <p:nvPr/>
        </p:nvSpPr>
        <p:spPr>
          <a:xfrm>
            <a:off x="7040880" y="17556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Своё производство, контроль ОТК на фабрике и в офисе. Рейтинг 4,72 из 5 при 40 тыс.+ оценок.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649224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704088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Комфорт и удобство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7040880" y="29900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Вещи для реальной жизни: мягкий трикотаж, продуманные карманы, посадка, в которой можно двигаться.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492240" y="3840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704088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Ткани, которых нет у других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7040880" y="42245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тканей заказываем напрямую с фабрик Китая. Такие модели сложно повторить конкурентам.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6492240" y="5074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704088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Капсула внутри бренда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040880" y="545896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 и низ созданы друг под друга. Покупательница собирает образ, не выходя из нашего каталога.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02 · ПОЗИЦИОНИРОВАНИЕ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Место на рынке и отстройка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solidFill>
            <a:srgbClr val="24211F"/>
          </a:solidFill>
          <a:ln w="12700">
            <a:solidFill>
              <a:srgbClr val="2421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Story: доступный бренд с собственным производством, который делает трендовую базу с хорошей посадкой для женщин 25–46. Не перекуп, не масс-маркет, не дизайнерский люкс.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Перекупы на маркетплейсах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Одинаковые вещи с одних фабрик, случайное качество, нет ответственности за посадку.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3566160" cy="137160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ответ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262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показываем раскрой, пошив, ОТК. Производство наше главное доказательство.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Масс-маркет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154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Дёшево, но тонкие ткани, размер «плывёт», вещь живёт сезон.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4160520"/>
            <a:ext cx="3566160" cy="137160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ответ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5262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Ткани устойчивые в носке, партии до 300–500 шт. на размер и стабильная посадка от партии к партии.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Дизайнерские бренды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3154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Красиво и дорого: 10–20 тыс. ₽ за вещь, часто без больших размеров.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4160520"/>
            <a:ext cx="3566160" cy="137160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ответ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5262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Сравнимая идея за понятные деньги, сетка до 56 размера, вещь можно купить на WB за два клика.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 ассортимента: 30% базы, 70% трендов, которые переходят в базу. Дропы два раза в год, осень–зима и весна–лето, без повторов прошлых сезонов.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c1066a3c-3260-5be9-85ba-908a38047f6f/scratchpad/build/assets/look_mes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24211F"/>
          </a:solidFill>
          <a:ln w="12700">
            <a:solidFill>
              <a:srgbClr val="24211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6000" dirty="0">
                <a:solidFill>
                  <a:srgbClr val="FB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6517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Tone of Voice</a:t>
            </a:r>
            <a:endParaRPr lang="en-US" sz="400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визуал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062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звучит бренд в подписи к рилсу, в карточке на маркетплейсе и в ответе на плохой отзыв.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8AE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03 · TONE OF VOICE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Голос: подруга, которая разбирается в одежде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 и без давления. Мы не продавец у прилавка и не глянцевый журнал. Мы та самая подруга, у которой хороший вкус и которая честно скажет, что с чем носить и сядет ли на тебя.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246120" cy="173736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Тёплый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Обращаемся к одной женщине, а не к «дорогим подписчицам». Улыбка в тексте есть, сюсюканья нет.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77640" y="2423160"/>
            <a:ext cx="3246120" cy="173736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Конкретный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0175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Ткань, посадка, повод, цифра. Общие слова вроде «стильно» и «качественно» заменяем на факт.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3246120" cy="173736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526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Честный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9377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обещаем идеальной посадки, называем недостатки модели там, где они есть. Доверие важнее одной продажи.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77640" y="4343400"/>
            <a:ext cx="3246120" cy="173736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4526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Спокойный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49377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Никакой срочности и дедлайнов: без «успей», «последние размеры», «только сегодня».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89520" y="1325880"/>
            <a:ext cx="4023360" cy="4937760"/>
          </a:xfrm>
          <a:prstGeom prst="rect">
            <a:avLst/>
          </a:prstGeom>
          <a:solidFill>
            <a:srgbClr val="24211F"/>
          </a:solidFill>
          <a:ln w="12700">
            <a:solidFill>
              <a:srgbClr val="2421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FB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правил письма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2011680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Начинаем с ситуации покупательницы, а не с вещи. Не «встречайте новинку», а зачем она в гардеробе.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свойство переводим в пользу при носке.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строка решает. Заставок и приветствий нет: сразу вещь или движение.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на «вы», но тёплое, без канцелярита.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Тире в текстах не используем. Короткие предложения.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 только из данных бренда: состав, цена, размеры, сроки. Нет данных, спрашиваем.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03 · TONE OF VOICE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Говорим и не говорим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B0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Так не пишем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Так пишем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03520" cy="658368"/>
          </a:xfrm>
          <a:prstGeom prst="rect">
            <a:avLst/>
          </a:prstGeom>
          <a:solidFill>
            <a:srgbClr val="F7F1EE"/>
          </a:solidFill>
          <a:ln w="12700">
            <a:solidFill>
              <a:srgbClr val="F7F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737360"/>
            <a:ext cx="5440680" cy="658368"/>
          </a:xfrm>
          <a:prstGeom prst="rect">
            <a:avLst/>
          </a:prstGeom>
          <a:solidFill>
            <a:srgbClr val="F1F3E8"/>
          </a:solidFill>
          <a:ln w="12700">
            <a:solidFill>
              <a:srgbClr val="F1F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7373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E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Встречайте новинку сезона!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737360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понедельник холодно, а к обеду уже нет. Кардиган на пуговицах решает это за секунду.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5303520" cy="658368"/>
          </a:xfrm>
          <a:prstGeom prst="rect">
            <a:avLst/>
          </a:prstGeom>
          <a:solidFill>
            <a:srgbClr val="F7F1EE"/>
          </a:solidFill>
          <a:ln w="12700">
            <a:solidFill>
              <a:srgbClr val="F7F1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2496312"/>
            <a:ext cx="5440680" cy="658368"/>
          </a:xfrm>
          <a:prstGeom prst="rect">
            <a:avLst/>
          </a:prstGeom>
          <a:solidFill>
            <a:srgbClr val="F1F3E8"/>
          </a:solidFill>
          <a:ln w="12700">
            <a:solidFill>
              <a:srgbClr val="F1F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49631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E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Стильная и качественная вещь.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9631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Плотный трикотаж, который не вытягивается на локтях. Проверяли на себе всю осень.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5303520" cy="658368"/>
          </a:xfrm>
          <a:prstGeom prst="rect">
            <a:avLst/>
          </a:prstGeom>
          <a:solidFill>
            <a:srgbClr val="F7F1EE"/>
          </a:solidFill>
          <a:ln w="12700">
            <a:solidFill>
              <a:srgbClr val="F7F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3255264"/>
            <a:ext cx="5440680" cy="658368"/>
          </a:xfrm>
          <a:prstGeom prst="rect">
            <a:avLst/>
          </a:prstGeom>
          <a:solidFill>
            <a:srgbClr val="F1F3E8"/>
          </a:solidFill>
          <a:ln w="12700">
            <a:solidFill>
              <a:srgbClr val="F1F3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25526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E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сядет на любую фигуру.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255264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модели размер 44, рост 172. Если сомневаетесь между двумя, напишите параметры, подберём.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14216"/>
            <a:ext cx="5303520" cy="658368"/>
          </a:xfrm>
          <a:prstGeom prst="rect">
            <a:avLst/>
          </a:prstGeom>
          <a:solidFill>
            <a:srgbClr val="F7F1EE"/>
          </a:solidFill>
          <a:ln w="12700">
            <a:solidFill>
              <a:srgbClr val="F7F1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4014216"/>
            <a:ext cx="5440680" cy="658368"/>
          </a:xfrm>
          <a:prstGeom prst="rect">
            <a:avLst/>
          </a:prstGeom>
          <a:solidFill>
            <a:srgbClr val="F1F3E8"/>
          </a:solidFill>
          <a:ln w="12700">
            <a:solidFill>
              <a:srgbClr val="F1F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1421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E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Успей купить, последние размеры!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01421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Размеры 48 и 50 заканчиваются быстрее остальных, это на случай, если вы их ждали.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773168"/>
            <a:ext cx="5303520" cy="658368"/>
          </a:xfrm>
          <a:prstGeom prst="rect">
            <a:avLst/>
          </a:prstGeom>
          <a:solidFill>
            <a:srgbClr val="F7F1EE"/>
          </a:solidFill>
          <a:ln w="12700">
            <a:solidFill>
              <a:srgbClr val="F7F1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4773168"/>
            <a:ext cx="5440680" cy="658368"/>
          </a:xfrm>
          <a:prstGeom prst="rect">
            <a:avLst/>
          </a:prstGeom>
          <a:solidFill>
            <a:srgbClr val="F1F3E8"/>
          </a:solidFill>
          <a:ln w="12700">
            <a:solidFill>
              <a:srgbClr val="F1F3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7731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E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Сохрани, чтобы не потерять. А вы знали, что…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77316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Хука-шаблона нет. Первый кадр: вещь в движении или деталь крупно.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532120"/>
            <a:ext cx="5303520" cy="658368"/>
          </a:xfrm>
          <a:prstGeom prst="rect">
            <a:avLst/>
          </a:prstGeom>
          <a:solidFill>
            <a:srgbClr val="F7F1EE"/>
          </a:solidFill>
          <a:ln w="12700">
            <a:solidFill>
              <a:srgbClr val="F7F1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5532120"/>
            <a:ext cx="5440680" cy="658368"/>
          </a:xfrm>
          <a:prstGeom prst="rect">
            <a:avLst/>
          </a:prstGeom>
          <a:solidFill>
            <a:srgbClr val="F1F3E8"/>
          </a:solidFill>
          <a:ln w="12700">
            <a:solidFill>
              <a:srgbClr val="F1F3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5321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E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приносим извинения за доставленные неудобства.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5532120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Обидно, что так вышло. Уже разобрались с партией, напишите номер заказа, заменим.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03 · TONE OF VOICE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голос, разные площадки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228600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Instagram: рилс, сториз, пост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живой регистр. Ситуация, вещь в движении, ответ «с чем носить». Подпись до 300 знаков, одна мысль. Сториз 4–5 в день, один кадр всегда живой, не витрина.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Рилс раз в два дня. Снимаем на телефон при дневном свете.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40680" cy="228600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Карточка на Wildberries / Ozon / Lamoda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0116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Спокойный и точный. Первые две строки: для чего вещь и из чего. Дальше состав, посадка, параметры модели, уход, с чем сочетать из нашего каталога. Без восклицаний и эмодзи.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Название: категория + ключевая деталь. Пример: «Кардиган с меховым воротником, синий».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40680" cy="228600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23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Ответы на отзывы и директ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80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и короткий. Благодарим за конкретное, не за «отзыв». На вопрос о размере отвечаем сеткой и просим параметры.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577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пишется для всех, кто его прочитает, а не только для спросившей.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440680" cy="228600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4023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Негатив и брак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480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Признать, сказать что делаем, что предлагаем. Без оправданий и спора, без «это первый такой случай».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5577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Поставщиков и подрядчиков публично не называем.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03 · ВИЗУАЛ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Визуальный стиль: фон, свет, деталь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017520" cy="2377440"/>
          </a:xfrm>
          <a:prstGeom prst="rect">
            <a:avLst/>
          </a:prstGeom>
          <a:solidFill>
            <a:srgbClr val="FBDCCB"/>
          </a:solidFill>
          <a:ln w="12700">
            <a:solidFill>
              <a:srgbClr val="FBDCCB"/>
            </a:solidFill>
            <a:prstDash val="solid"/>
          </a:ln>
        </p:spPr>
      </p:sp>
      <p:pic>
        <p:nvPicPr>
          <p:cNvPr id="5" name="Image 0" descr="/tmp/claude-0/-home-user--/c1066a3c-3260-5be9-85ba-908a38047f6f/scratchpad/build/assets/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600200"/>
            <a:ext cx="2011680" cy="1920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840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Логотип: набор капителью, два слова в две строки. На персиковом или белом фоне, без обводок и теней.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4754880"/>
            <a:ext cx="658368" cy="658368"/>
          </a:xfrm>
          <a:prstGeom prst="rect">
            <a:avLst/>
          </a:prstGeom>
          <a:solidFill>
            <a:srgbClr val="FBDCCB"/>
          </a:solidFill>
          <a:ln w="9525">
            <a:solidFill>
              <a:srgbClr val="E9DDD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468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Персиковый</a:t>
            </a:r>
            <a:endParaRPr lang="en-US" sz="7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FBDCCB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1307592" y="4754880"/>
            <a:ext cx="658368" cy="658368"/>
          </a:xfrm>
          <a:prstGeom prst="rect">
            <a:avLst/>
          </a:prstGeom>
          <a:solidFill>
            <a:srgbClr val="1E1E1E"/>
          </a:solidFill>
          <a:ln w="9525">
            <a:solidFill>
              <a:srgbClr val="E9DDD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07592" y="5468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Графит</a:t>
            </a:r>
            <a:endParaRPr lang="en-US" sz="7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1E1E1E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066544" y="4754880"/>
            <a:ext cx="6583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9DDD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66544" y="5468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Белый</a:t>
            </a:r>
            <a:endParaRPr lang="en-US" sz="7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FFFFFF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825496" y="4754880"/>
            <a:ext cx="658368" cy="658368"/>
          </a:xfrm>
          <a:prstGeom prst="rect">
            <a:avLst/>
          </a:prstGeom>
          <a:solidFill>
            <a:srgbClr val="6B7A3A"/>
          </a:solidFill>
          <a:ln w="9525">
            <a:solidFill>
              <a:srgbClr val="E9DDD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25496" y="5468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Олива</a:t>
            </a:r>
            <a:endParaRPr lang="en-US" sz="75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6B7A3A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943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Персиковый и графит: фирменные. Олива: акцент сезона, меняется вместе с дропом.</a:t>
            </a:r>
            <a:endParaRPr lang="en-US" sz="950" dirty="0"/>
          </a:p>
        </p:txBody>
      </p:sp>
      <p:pic>
        <p:nvPicPr>
          <p:cNvPr id="16" name="Image 1" descr="/tmp/claude-0/-home-user--/c1066a3c-3260-5be9-85ba-908a38047f6f/scratchpad/build/assets/look_polo_whit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40480" y="1371600"/>
            <a:ext cx="2331720" cy="3108960"/>
          </a:xfrm>
          <a:prstGeom prst="rect">
            <a:avLst/>
          </a:prstGeom>
        </p:spPr>
      </p:pic>
      <p:pic>
        <p:nvPicPr>
          <p:cNvPr id="17" name="Image 2" descr="/tmp/claude-0/-home-user--/c1066a3c-3260-5be9-85ba-908a38047f6f/scratchpad/build/assets/look_argyle_ves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09360" y="1371600"/>
            <a:ext cx="2331720" cy="3108960"/>
          </a:xfrm>
          <a:prstGeom prst="rect">
            <a:avLst/>
          </a:prstGeom>
        </p:spPr>
      </p:pic>
      <p:pic>
        <p:nvPicPr>
          <p:cNvPr id="18" name="Image 3" descr="/tmp/claude-0/-home-user--/c1066a3c-3260-5be9-85ba-908a38047f6f/scratchpad/build/assets/look_quilted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78240" y="1371600"/>
            <a:ext cx="2834640" cy="31089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84048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Свет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3840480" y="49834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Дневной, естественный. Студия допустима для каталога, для соцсетей улица, кафе, дом, природа.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580644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Кадр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806440" y="49834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Вещь занимает кадр, фон спокойный: бетон, дерево, камень, поле. Никаких перегруженных интерьеров.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0" y="49834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Живая, не позирует. Идёт, поправляет воротник, держит кофе. Обувь и аксессуары утверждает Алёна.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973836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Деталь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738360" y="49834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каждой серии один крупный план: воротник, кружево, пуговицы, фактура трикотажа.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c1066a3c-3260-5be9-85ba-908a38047f6f/scratchpad/build/assets/look_polo_whi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24211F"/>
          </a:solidFill>
          <a:ln w="12700">
            <a:solidFill>
              <a:srgbClr val="24211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6000" dirty="0">
                <a:solidFill>
                  <a:srgbClr val="FB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6517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Ассортимент</a:t>
            </a:r>
            <a:endParaRPr lang="en-US" sz="400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хиты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062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продаём, из чего шьём, в каких размерах и какие модели держат оборот.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8AE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04 · АССОРТИМЕНТ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устроена матрица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035040" cy="987552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Кофты и джемперы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470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доля оборота. Кардиганы, поло, джемперы, жилеты. Трикотаж из вискозы, шерсти, полиамида, акрила с фабрик Китая.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6035040" cy="987552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24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Брюки и юбки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626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опора оборота. Широкие брюки, брюки в клетку, юбки из эко-кожи. Шьются в Одинцово и Москве.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02736"/>
            <a:ext cx="6035040" cy="987552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7398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Костюмы и комплекты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7822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 и низ одной фактуры: жилет + юбка, кардиган + брюки. Главный аргумент капсульности.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718304"/>
            <a:ext cx="6035040" cy="987552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8554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Платья и сезонные позиции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93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Летом добавляем трендовые цвета в регулярные модели, поло и кофты с коротким рукавом, лёгкие брюки.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1325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4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цвето-артикулов в активной матрице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1325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4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70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/ тренды, которые переходят в базу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4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42–56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размерная сетка, XS – 4XL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4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дропа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год: осень–зима, весна–лето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40880" y="4617720"/>
            <a:ext cx="4572000" cy="1600200"/>
          </a:xfrm>
          <a:prstGeom prst="rect">
            <a:avLst/>
          </a:prstGeom>
          <a:solidFill>
            <a:srgbClr val="24211F"/>
          </a:solidFill>
          <a:ln w="12700">
            <a:solidFill>
              <a:srgbClr val="2421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FB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Ткани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507492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E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Вискоза, эко-кожа, футер, кулирка, рибана, полиэстер, трикотажная пряжа. Критерий один: устойчивость в носке. Часть тканей идёт напрямую с фабрик Китая, в России таких нет, поэтому наши модели сложно повторить.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04 · ХИТЫ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Хит №1. Кардиган с воротником «леопард»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31720" cy="3108960"/>
          </a:xfrm>
          <a:prstGeom prst="rect">
            <a:avLst/>
          </a:prstGeom>
          <a:solidFill>
            <a:srgbClr val="FDEEE6"/>
          </a:solidFill>
          <a:ln w="12700">
            <a:solidFill>
              <a:srgbClr val="D9B9A6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2331720" cy="31089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Кардиган синий, крупный план, горы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photos/cardigan_navy_close.jpg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17520" y="1371600"/>
            <a:ext cx="2331720" cy="3108960"/>
          </a:xfrm>
          <a:prstGeom prst="rect">
            <a:avLst/>
          </a:prstGeom>
          <a:solidFill>
            <a:srgbClr val="FDEEE6"/>
          </a:solidFill>
          <a:ln w="12700">
            <a:solidFill>
              <a:srgbClr val="D9B9A6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017520" y="1371600"/>
            <a:ext cx="2331720" cy="31089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Кардиган синий + брюки в клетку, берет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photos/cardigan_navy_full.jpg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0" y="1371600"/>
            <a:ext cx="2331720" cy="3108960"/>
          </a:xfrm>
          <a:prstGeom prst="rect">
            <a:avLst/>
          </a:prstGeom>
          <a:solidFill>
            <a:srgbClr val="FDEEE6"/>
          </a:solidFill>
          <a:ln w="12700">
            <a:solidFill>
              <a:srgbClr val="D9B9A6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486400" y="1371600"/>
            <a:ext cx="2331720" cy="31089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Кардиган зелёный, поле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photos/cardigan_green_field.jpg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55280" y="1371600"/>
            <a:ext cx="2331720" cy="3108960"/>
          </a:xfrm>
          <a:prstGeom prst="rect">
            <a:avLst/>
          </a:prstGeom>
          <a:solidFill>
            <a:srgbClr val="FDEEE6"/>
          </a:solidFill>
          <a:ln w="12700">
            <a:solidFill>
              <a:srgbClr val="D9B9A6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7955280" y="1371600"/>
            <a:ext cx="2331720" cy="31089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Кардиган зелёный, кафе, мини-юбка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photos/cardigan_green_cafe.jpg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424160" y="1371600"/>
            <a:ext cx="1188720" cy="3108960"/>
          </a:xfrm>
          <a:prstGeom prst="rect">
            <a:avLst/>
          </a:prstGeom>
          <a:solidFill>
            <a:srgbClr val="24211F"/>
          </a:solidFill>
          <a:ln w="12700">
            <a:solidFill>
              <a:srgbClr val="2421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24160" y="1371600"/>
            <a:ext cx="1188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B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СИНИЙ</a:t>
            </a:r>
            <a:endParaRPr lang="en-US" sz="100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00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B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ЗЕЛЁНЫЙ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хит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834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аксессуар превращает базовый кардиган в вещь с характером. Съёмный воротник из искусственного меха, обтяжные пуговицы, укороченная длина до талии. Работает с брюками, юбкой и джинсами.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показывать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9834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Крупно воротник и пуговицы, затем общий план в движении.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цвета в одном ролике: синий для города, зелёный для выходных.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в паре с нашим низом: брюки в клетку, широкие кремовые, юбка.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04 · ХИТЫ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Хит №2. Юбка-карандаш из эко-кожи с кружевом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108960" cy="4892040"/>
          </a:xfrm>
          <a:prstGeom prst="rect">
            <a:avLst/>
          </a:prstGeom>
          <a:solidFill>
            <a:srgbClr val="FDEEE6"/>
          </a:solidFill>
          <a:ln w="12700">
            <a:solidFill>
              <a:srgbClr val="D9B9A6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3108960" cy="48920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Юбка оливковая, студия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photos/skirt_olive.jpg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794760" y="1371600"/>
            <a:ext cx="3108960" cy="4892040"/>
          </a:xfrm>
          <a:prstGeom prst="rect">
            <a:avLst/>
          </a:prstGeom>
          <a:solidFill>
            <a:srgbClr val="FDEEE6"/>
          </a:solidFill>
          <a:ln w="12700">
            <a:solidFill>
              <a:srgbClr val="D9B9A6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794760" y="1371600"/>
            <a:ext cx="3108960" cy="48920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Юбка голубая, студия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photos/skirt_blue.jpg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Оливковый · Голубой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7830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миди до колена, высокая посадка, карманы, разрез спереди и контрастное шоколадное кружево по подолу. Эко-кожа плотная, держит форму и не тянется на бёдрах.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23760" y="3108960"/>
            <a:ext cx="4389120" cy="315468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хит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3566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Эко-кожа плюс кружево: тренд, который не выглядит вызывающе. Юбка закрывает запрос «на работу и на ужин одной вещью».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показывать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484632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Кружево и разрез крупно, затем шаг: юбка не сковывает.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 из нашего каталога: топ в рубчик, поло, кардиган.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«а сядет ли»: параметры модели, посадка на 48+.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04 · ХИТЫ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Хит №3. Трикотажные комплекты и джемперы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4892040"/>
          </a:xfrm>
          <a:prstGeom prst="rect">
            <a:avLst/>
          </a:prstGeom>
          <a:solidFill>
            <a:srgbClr val="FDEEE6"/>
          </a:solidFill>
          <a:ln w="12700">
            <a:solidFill>
              <a:srgbClr val="D9B9A6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3383280" cy="48920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Комплект жилет + юбка, ромбы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photos/set_diamond.jpg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069080" y="1371600"/>
            <a:ext cx="3383280" cy="4892040"/>
          </a:xfrm>
          <a:prstGeom prst="rect">
            <a:avLst/>
          </a:prstGeom>
          <a:solidFill>
            <a:srgbClr val="FDEEE6"/>
          </a:solidFill>
          <a:ln w="12700">
            <a:solidFill>
              <a:srgbClr val="D9B9A6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069080" y="1371600"/>
            <a:ext cx="3383280" cy="48920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Джемпер аргайл с розами, зелёный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photos/sweater_argyle_roses.jpg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3716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Комплект жилет + мини-юбка «ромбы»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0574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предмета, которые продаются вместе и по отдельности. Жилет носят поверх водолазки, юбку с сапогами. Чёрно-белый геометрический рисунок легко сочетать.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3246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Джемпер аргайл с розами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657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ромб плюс объёмный цветочный жаккард. Вещь-настроение, которую покупают под джинсы и снимают для сториз чаще других.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80960" y="4709160"/>
            <a:ext cx="3931920" cy="155448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09560" y="4828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показывать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5120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Трикотаж живёт в движении: рукав крупно, фактура на свету, «одна вещь тремя способами». Комплект показываем и вместе, и раздельно, чтобы был понятен второй сценарий покупки.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04 · ХИТЫ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Хит №4. Поло ажурной вязки и широкие брюки</a:t>
            </a:r>
            <a:endParaRPr lang="en-US" sz="2800" dirty="0"/>
          </a:p>
        </p:txBody>
      </p:sp>
      <p:pic>
        <p:nvPicPr>
          <p:cNvPr id="4" name="Image 0" descr="/tmp/claude-0/-home-user--/c1066a3c-3260-5be9-85ba-908a38047f6f/scratchpad/build/assets/look_polo_whi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2331720" cy="3246120"/>
          </a:xfrm>
          <a:prstGeom prst="rect">
            <a:avLst/>
          </a:prstGeom>
        </p:spPr>
      </p:pic>
      <p:pic>
        <p:nvPicPr>
          <p:cNvPr id="5" name="Image 1" descr="/tmp/claude-0/-home-user--/c1066a3c-3260-5be9-85ba-908a38047f6f/scratchpad/build/assets/look_polo_yello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17520" y="1371600"/>
            <a:ext cx="2331720" cy="3246120"/>
          </a:xfrm>
          <a:prstGeom prst="rect">
            <a:avLst/>
          </a:prstGeom>
        </p:spPr>
      </p:pic>
      <p:pic>
        <p:nvPicPr>
          <p:cNvPr id="6" name="Image 2" descr="/tmp/claude-0/-home-user--/c1066a3c-3260-5be9-85ba-908a38047f6f/scratchpad/build/assets/look_argyle_ves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0" y="1371600"/>
            <a:ext cx="2331720" cy="324612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955280" y="1371600"/>
            <a:ext cx="2331720" cy="3246120"/>
          </a:xfrm>
          <a:prstGeom prst="rect">
            <a:avLst/>
          </a:prstGeom>
          <a:solidFill>
            <a:srgbClr val="FDEEE6"/>
          </a:solidFill>
          <a:ln w="12700">
            <a:solidFill>
              <a:srgbClr val="D9B9A6"/>
            </a:solidFill>
            <a:prstDash val="dash"/>
          </a:ln>
        </p:spPr>
      </p:sp>
      <p:sp>
        <p:nvSpPr>
          <p:cNvPr id="8" name="Text 3"/>
          <p:cNvSpPr txBox="1"/>
          <p:nvPr/>
        </p:nvSpPr>
        <p:spPr>
          <a:xfrm>
            <a:off x="7955280" y="1371600"/>
            <a:ext cx="2331720" cy="32461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Брюки в клетку, широкие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photos/pants_plaid.jpg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10424160" y="1371600"/>
            <a:ext cx="1188720" cy="3246120"/>
          </a:xfrm>
          <a:prstGeom prst="rect">
            <a:avLst/>
          </a:prstGeom>
          <a:solidFill>
            <a:srgbClr val="FBDCCB"/>
          </a:solidFill>
          <a:ln w="12700">
            <a:solidFill>
              <a:srgbClr val="FBDCCB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0424160" y="1371600"/>
            <a:ext cx="1188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</a:t>
            </a:r>
            <a:endParaRPr lang="en-US" sz="100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100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ОСЕНЬ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4800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Поло с контрастным воротником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1663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Летний хит: ажурная вязка дышит, воротник и пуговицы дают «собранный» вид без пиджака. Белый с чёрным, жёлтый, молочный. Носят с джинсами, кожаными брюками и юбкой-карандаш.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217920" y="4800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Широкие брюки: клетка и однотон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217920" y="51663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Осенняя опора капсулы. Высокая посадка, защипы, длина в пол. Брюки в клетку с кардиганом, кремовые с любым трикотажным верхом. Брюки вместе с кофтами дают большую часть оборота.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04 · КАПСУЛА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собирать капсулу из нашего каталога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4A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бренда: покупательница собирает образ, не выходя из Infinity Story. Значит, каждая съёмка и каждая карточка показывают вещь в паре.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Кардиган «леопард» синий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163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брюки в клетку или кремовые широкие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56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Город, офис, встреча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5661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Кардиган «леопард» зелёный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8163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мини-юбка тёмный деним, сапоги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456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Выходные, кафе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5661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Юбка эко-кожа с кружевом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8163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топ в рубчик или поло молочное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456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и ужин одной вещью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5661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3251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Жилет «ромбы»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7823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юбка из комплекта или наши брюки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422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сценария из одной покупки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4160520"/>
            <a:ext cx="35661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43251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Поло ажурное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7823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джинсы или кожаные брюки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5422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Лето, отпуск, город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4160520"/>
            <a:ext cx="35661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75320" y="43251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Джемпер аргайл с розами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7823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джинсы, кремовые брюки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5422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Прогулка, дача, съёмка сториз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E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в кадре и в тексте только вещи, которые реально есть в продаже. Чужое и несуществующее не подставляем.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05 · КАК ВСЁ УСТРОЕНО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рождается новинка: от идеи до карточки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214884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4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75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Идея и технология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Алёна придумывает модель и технологию. До 10 новинок в сезон: брюки, костюмы, джемперы.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66160" cy="214884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581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4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075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Лекало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468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Продакт-менеджер ведёт конструктора и технолога. Параллельно подбирается ткань и фурнитура.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566160" cy="214884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581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4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075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Эталонный образец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468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Отшивается в базовом размере в Одинцово или в Китае. Согласовывается с Алёной.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566160" cy="214884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913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4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Градация и партия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800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Лекала градируются на сетку 42–56. Первая партия от 150 шт. на размер, 500–700 в партии.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3749040"/>
            <a:ext cx="3566160" cy="214884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3913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4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Съёмка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800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Модели, фотограф, студия утверждаются Алёной. На съёмке контролируем обувь и аксессуары.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3749040"/>
            <a:ext cx="3566160" cy="214884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3913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4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Карточка и контент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800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маркетплейса собирает карточку, SMM запускает рилс и сториз. Товар в наличии 40–80 шт. на размер до рекламы.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05 · ПРОИЗВОДСТВО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Своё производство: главный аргумент бренда</a:t>
            </a:r>
            <a:endParaRPr lang="en-US" sz="2800" dirty="0"/>
          </a:p>
        </p:txBody>
      </p:sp>
      <p:pic>
        <p:nvPicPr>
          <p:cNvPr id="4" name="Image 0" descr="/tmp/claude-0/-home-user--/c1066a3c-3260-5be9-85ba-908a38047f6f/scratchpad/build/assets/prod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2743200" cy="2377440"/>
          </a:xfrm>
          <a:prstGeom prst="rect">
            <a:avLst/>
          </a:prstGeom>
        </p:spPr>
      </p:pic>
      <p:pic>
        <p:nvPicPr>
          <p:cNvPr id="5" name="Image 1" descr="/tmp/claude-0/-home-user--/c1066a3c-3260-5be9-85ba-908a38047f6f/scratchpad/build/assets/prod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3280" y="1371600"/>
            <a:ext cx="1554480" cy="2377440"/>
          </a:xfrm>
          <a:prstGeom prst="rect">
            <a:avLst/>
          </a:prstGeom>
        </p:spPr>
      </p:pic>
      <p:pic>
        <p:nvPicPr>
          <p:cNvPr id="6" name="Image 2" descr="/tmp/claude-0/-home-user--/c1066a3c-3260-5be9-85ba-908a38047f6f/scratchpad/build/assets/prod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29200" y="1371600"/>
            <a:ext cx="1554480" cy="2377440"/>
          </a:xfrm>
          <a:prstGeom prst="rect">
            <a:avLst/>
          </a:prstGeom>
        </p:spPr>
      </p:pic>
      <p:pic>
        <p:nvPicPr>
          <p:cNvPr id="7" name="Image 3" descr="/tmp/claude-0/-home-user--/c1066a3c-3260-5be9-85ba-908a38047f6f/scratchpad/build/assets/china2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3840480"/>
            <a:ext cx="2011680" cy="2423160"/>
          </a:xfrm>
          <a:prstGeom prst="rect">
            <a:avLst/>
          </a:prstGeom>
        </p:spPr>
      </p:pic>
      <p:pic>
        <p:nvPicPr>
          <p:cNvPr id="8" name="Image 4" descr="/tmp/claude-0/-home-user--/c1066a3c-3260-5be9-85ba-908a38047f6f/scratchpad/build/assets/china3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651760" y="3840480"/>
            <a:ext cx="2011680" cy="2423160"/>
          </a:xfrm>
          <a:prstGeom prst="rect">
            <a:avLst/>
          </a:prstGeom>
        </p:spPr>
      </p:pic>
      <p:pic>
        <p:nvPicPr>
          <p:cNvPr id="9" name="Image 5" descr="/tmp/claude-0/-home-user--/c1066a3c-3260-5be9-85ba-908a38047f6f/scratchpad/build/assets/china4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54880" y="3840480"/>
            <a:ext cx="1828800" cy="242316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704088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Одинцово, Подмосковье</a:t>
            </a:r>
            <a:endParaRPr lang="en-US" sz="1700" dirty="0"/>
          </a:p>
        </p:txBody>
      </p:sp>
      <p:sp>
        <p:nvSpPr>
          <p:cNvPr id="11" name="Text 3"/>
          <p:cNvSpPr txBox="1"/>
          <p:nvPr/>
        </p:nvSpPr>
        <p:spPr>
          <a:xfrm>
            <a:off x="704088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площадка, работает только на наш бренд. 3000–3500 изделий в месяц. Здесь шьём брюки, юбки, регулярный ассортимент. Раскрой, пошив, ОТК, упаковка и маркировка на месте.</a:t>
            </a:r>
            <a:endParaRPr lang="en-US" sz="1200" dirty="0"/>
          </a:p>
        </p:txBody>
      </p:sp>
      <p:sp>
        <p:nvSpPr>
          <p:cNvPr id="12" name="Text 4"/>
          <p:cNvSpPr txBox="1"/>
          <p:nvPr/>
        </p:nvSpPr>
        <p:spPr>
          <a:xfrm>
            <a:off x="704088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Москва</a:t>
            </a:r>
            <a:endParaRPr lang="en-US" sz="1700" dirty="0"/>
          </a:p>
        </p:txBody>
      </p:sp>
      <p:sp>
        <p:nvSpPr>
          <p:cNvPr id="13" name="Text 5"/>
          <p:cNvSpPr txBox="1"/>
          <p:nvPr/>
        </p:nvSpPr>
        <p:spPr>
          <a:xfrm>
            <a:off x="704088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швейная площадка под регулярные модели и пиковые объёмы.</a:t>
            </a:r>
            <a:endParaRPr lang="en-US" sz="1200" dirty="0"/>
          </a:p>
        </p:txBody>
      </p:sp>
      <p:sp>
        <p:nvSpPr>
          <p:cNvPr id="14" name="Text 6"/>
          <p:cNvSpPr txBox="1"/>
          <p:nvPr/>
        </p:nvSpPr>
        <p:spPr>
          <a:xfrm>
            <a:off x="704088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Контрактные фабрики Китая</a:t>
            </a:r>
            <a:endParaRPr lang="en-US" sz="1700" dirty="0"/>
          </a:p>
        </p:txBody>
      </p:sp>
      <p:sp>
        <p:nvSpPr>
          <p:cNvPr id="15" name="Text 7"/>
          <p:cNvSpPr txBox="1"/>
          <p:nvPr/>
        </p:nvSpPr>
        <p:spPr>
          <a:xfrm>
            <a:off x="7040880" y="43891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Вязаная категория: кардиганы, поло, джемперы из вискозы, шерсти, полиамида, акрила. Плюс ткани напрямую с фабрик, которых нет в России. Это даёт отстройку в дизайне и материалах.</a:t>
            </a:r>
            <a:endParaRPr lang="en-US" sz="1200" dirty="0"/>
          </a:p>
        </p:txBody>
      </p:sp>
      <p:sp>
        <p:nvSpPr>
          <p:cNvPr id="16" name="Shape 8"/>
          <p:cNvSpPr/>
          <p:nvPr/>
        </p:nvSpPr>
        <p:spPr>
          <a:xfrm>
            <a:off x="7040880" y="5532120"/>
            <a:ext cx="4572000" cy="73152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7" name="Text 9"/>
          <p:cNvSpPr txBox="1"/>
          <p:nvPr/>
        </p:nvSpPr>
        <p:spPr>
          <a:xfrm>
            <a:off x="7269480" y="55961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контента: раскрой, пошив, отбор ткани, контроль, упаковка. Простым языком, без швейных терминов. Подрядчиков публично не называем.</a:t>
            </a:r>
            <a:endParaRPr lang="en-US" sz="1050" dirty="0"/>
          </a:p>
        </p:txBody>
      </p:sp>
      <p:sp>
        <p:nvSpPr>
          <p:cNvPr id="18" name="Text 10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  <p:sp>
        <p:nvSpPr>
          <p:cNvPr id="19" name="Text 1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05 · КАНАЛЫ ПРОДАЖ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Каналы продаж и роль каждого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3017520"/>
          </a:xfrm>
          <a:prstGeom prst="rect">
            <a:avLst/>
          </a:prstGeom>
          <a:solidFill>
            <a:srgbClr val="24211F"/>
          </a:solidFill>
          <a:ln w="12700">
            <a:solidFill>
              <a:srgbClr val="2421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Wildberries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B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канал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E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большая доля оборота, ключевой партнёр. Сюда ведём весь трафик с рекламы. Поставки несколько раз в неделю, аналитика в Eggheads.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64992" y="1371600"/>
            <a:ext cx="2651760" cy="301752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92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Ozon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маркетплейс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3317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Поставки примерно раз в месяц, если свой склад позволяет без ущерба остаткам на WB. Логика карточек та же.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1344" y="1371600"/>
            <a:ext cx="2651760" cy="301752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9944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Lamoda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Развиваемый канал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23317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с более высоким чеком и вниманием к бренду. Требует более аккуратных описаний, полного состава и лукбук-фото.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97696" y="1371600"/>
            <a:ext cx="2651760" cy="301752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26296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и доверие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23317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Продвигаем в первую очередь аккаунт бренда: рилсы, сториз, блогеры. Продаж напрямую мало, но именно здесь формируется узнаваемость.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17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2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4,72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40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товаров на WB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364992" y="4617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2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27,4%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3364992" y="5440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выкуп на WB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181344" y="4617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2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млн ₽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6181344" y="5440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оборот в месяц на WB, 2023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97696" y="4617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32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8997696" y="5440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блогеров за полгода, 3–5 реклам в неделю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05 · ПРОДВИЖЕНИЕ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устроено продвижение</a:t>
            </a:r>
            <a:endParaRPr lang="en-US" sz="2800" dirty="0"/>
          </a:p>
        </p:txBody>
      </p:sp>
      <p:pic>
        <p:nvPicPr>
          <p:cNvPr id="4" name="Image 0" descr="/tmp/claude-0/-home-user--/c1066a3c-3260-5be9-85ba-908a38047f6f/scratchpad/build/assets/wb_catalo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1371600"/>
            <a:ext cx="393192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80960" y="3611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бренда на Wildberries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680960" y="4023360"/>
            <a:ext cx="3931920" cy="2240280"/>
          </a:xfrm>
          <a:prstGeom prst="rect">
            <a:avLst/>
          </a:prstGeom>
          <a:solidFill>
            <a:srgbClr val="24211F"/>
          </a:solidFill>
          <a:ln w="12700">
            <a:solidFill>
              <a:srgbClr val="24211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55280" y="4160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FB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Ритм контента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45720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Рилс раз в два дня. Главный формат.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Сториз ежедневно, 4–5 штук, одна интерактивная.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Посты и карусели по сетке.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на телефон при дневном свете.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Стратегия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1371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Охват, узнаваемость и окупаемость рекламы. По этим трём показателям выбираем площадки и блогеров, результат замеряем через 2 дня после выхода.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258568"/>
            <a:ext cx="6903720" cy="18288"/>
          </a:xfrm>
          <a:prstGeom prst="rect">
            <a:avLst/>
          </a:prstGeom>
          <a:solidFill>
            <a:srgbClr val="E9DDD5"/>
          </a:solidFill>
          <a:ln w="12700">
            <a:solidFill>
              <a:srgbClr val="E9DDD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3591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Блогеры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235915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инструмент: сториз и рилсы у блогеров, реже посты. От 2 до 10 товаров на одну интеграцию. График реклам составляется на месяц.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6903720" cy="18288"/>
          </a:xfrm>
          <a:prstGeom prst="rect">
            <a:avLst/>
          </a:prstGeom>
          <a:solidFill>
            <a:srgbClr val="E9DDD5"/>
          </a:solidFill>
          <a:ln w="12700">
            <a:solidFill>
              <a:srgbClr val="E9DDD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346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Трафик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2697480" y="334670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трафик с рекламы ведём на Wildberries. После выхода менеджер маркетплейса строит гипотезы в Eggheads и считает окупаемость.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233672"/>
            <a:ext cx="6903720" cy="18288"/>
          </a:xfrm>
          <a:prstGeom prst="rect">
            <a:avLst/>
          </a:prstGeom>
          <a:solidFill>
            <a:srgbClr val="E9DDD5"/>
          </a:solidFill>
          <a:ln w="12700">
            <a:solidFill>
              <a:srgbClr val="E9DDD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3342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Готовность к рекламе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2697480" y="433425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интеграцией на складе минимум 40–80 единиц на размер. Реклама без товара сжигает бюджет и доверие.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221224"/>
            <a:ext cx="6903720" cy="18288"/>
          </a:xfrm>
          <a:prstGeom prst="rect">
            <a:avLst/>
          </a:prstGeom>
          <a:solidFill>
            <a:srgbClr val="E9DDD5"/>
          </a:solidFill>
          <a:ln w="12700">
            <a:solidFill>
              <a:srgbClr val="E9DDD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321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Темы контента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2697480" y="532180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Образы и сочетания, закулисье производства, новинки через пользу, ответы на возражения, детали крупно.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06 · КОМАНДА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Команда: 11 человек и к кому идти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solidFill>
            <a:srgbClr val="24211F"/>
          </a:solidFill>
          <a:ln w="12700">
            <a:solidFill>
              <a:srgbClr val="2421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Алёна Валуйская · основатель и руководитель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развития, дизайн моделей, утверждение съёмок, ассортимента и цен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66160" cy="306324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Производство моделей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80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Екатерина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27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продакт-менеджер: ткани, лекала, производство, ОТК, планирование партий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02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Дизайнер карточек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49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 для маркетплейсов и инфографика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2331720"/>
            <a:ext cx="3566160" cy="306324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Продажи и продвижение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880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Ольга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127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отдела продвижения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502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Ольга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749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Wildberries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123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Ирина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4370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Ozon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47457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Ксения, Оксана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9926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менеджеры по поиску блогеров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2331720"/>
            <a:ext cx="3566160" cy="306324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7532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Склад, сборка, упаковка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2880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Оксана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127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менеджер по складу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3502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сборки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3749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комплектует поставки на маркетплейсы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4123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Упаковщицы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370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упаковка и маркировка, 2 человека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532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 кому идти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8338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E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по вещи, ткани, размерам и срокам: продакт-менеджер. Остатки, поставки, карточки: менеджер площадки. Тексты, съёмки, блогеры: руководитель продвижения. Всё, что касается образа бренда и спорных решений: Алёна. Офисная команда на месте, маркетплейсы и SMM на удалёнке, общие встречи 1–2 раза в месяц.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06 · КУЛЬТУРА И СТАРТ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 нас принято и с чего начать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Культура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приветствуются. Предложил идею, помоги продумать, как её реализовать.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 уважительная обратная связь: можно и нужно задавать вопросы и говорить о сложностях.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общий: дизайн, производство, маркетинг, продажи и склад работают как одна команда.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отвечает за свой участок и за итог, а не за «галочку».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повод улучшить процесс, а не искать виноватых.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 завязана на оборот: у каждого свои KPI плюс общие задачи команды.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325880"/>
            <a:ext cx="5394960" cy="2423160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неделя SMM-менеджера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874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Прочитать бренд-бук и бриф по контенту, выписать 10 фраз голоса бренда.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Примерить и потрогать хиты: кардиган, юбку, комплект, поло.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Разобрать 20 последних отзывов: какие слова повторяются.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первый рилс по хиту с ответом «с чем носить».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3886200"/>
            <a:ext cx="5394960" cy="2377440"/>
          </a:xfrm>
          <a:prstGeom prst="rect">
            <a:avLst/>
          </a:prstGeom>
          <a:solidFill>
            <a:srgbClr val="F5F1EE"/>
          </a:solidFill>
          <a:ln w="12700">
            <a:solidFill>
              <a:srgbClr val="F5F1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неделя менеджера Lamoda / WB / Ozon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44348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матрицу: 80 цвето-артикулов, сетку 42–56, состав тканей.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Переписать 5 карточек хитов в голосе бренда по правилам раздела 03.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Сверить остатки в Мой Склад и на площадке, понять цикл поставки.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вопросы по составу и уходу и закрыть их с продакт-менеджером.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c1066a3c-3260-5be9-85ba-908a38047f6f/scratchpad/build/assets/look_polo_yello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pic>
        <p:nvPicPr>
          <p:cNvPr id="3" name="Image 1" descr="/tmp/claude-0/-home-user--/c1066a3c-3260-5be9-85ba-908a38047f6f/scratchpad/build/assets/log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822960"/>
            <a:ext cx="1188720" cy="116128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0" y="22860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3600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и добро пожаловать в команду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486400" y="40233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4A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после чтения остался вопрос, на который здесь нет ответа, задайте его в рабочем чате. Так этот документ станет лучше для следующего новичка.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0" y="5303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уважением, основатель бренда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Алёна Валуйская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9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Infinity Story · Бренд-бук</dc:title>
  <dc:subject>PptxGenJS Presentation</dc:subject>
  <dc:creator>Infinity Story</dc:creator>
  <cp:lastModifiedBy>Infinity Story</cp:lastModifiedBy>
  <cp:revision>1</cp:revision>
  <dcterms:created xsi:type="dcterms:W3CDTF">2026-09-02T09:47:43Z</dcterms:created>
  <dcterms:modified xsi:type="dcterms:W3CDTF">2026-09-02T09:47:43Z</dcterms:modified>
</cp:coreProperties>
</file>